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46320"/>
            <a:ext cx="12191695" cy="9144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9EDB"/>
                </a:solidFill>
                <a:latin typeface="Calibri"/>
              </a:rPr>
              <a:t>UNFPA PARTNERSHIP CATALYST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Introducing an AI-Powered
Knowledge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BBDDFF"/>
                </a:solidFill>
                <a:latin typeface="Calibri"/>
              </a:rPr>
              <a:t>A briefing for the UNFPA IT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Dr. Asa Torkelsson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BBBBBB"/>
                </a:solidFill>
                <a:latin typeface="Calibri"/>
              </a:rPr>
              <a:t>Chief, UNFPA Seoul Representation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Problem: Two Broken Sides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BBDDFF"/>
                </a:solidFill>
                <a:latin typeface="Calibri"/>
              </a:rPr>
              <a:t>A structural mismatch between capacity and capital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86400" cy="4389120"/>
          </a:xfrm>
          <a:prstGeom prst="rect">
            <a:avLst/>
          </a:prstGeom>
          <a:solidFill>
            <a:srgbClr val="F0F6FC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9EDB"/>
                </a:solidFill>
                <a:latin typeface="Calibri"/>
              </a:rPr>
              <a:t>UNFPA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029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03366"/>
                </a:solidFill>
                <a:latin typeface="Calibri"/>
              </a:rPr>
              <a:t>Has problems +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>
                <a:solidFill>
                  <a:srgbClr val="333333"/>
                </a:solidFill>
                <a:latin typeface="Calibri"/>
              </a:rPr>
              <a:t>Proven programmes across 150+ countries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>
                <a:solidFill>
                  <a:srgbClr val="333333"/>
                </a:solidFill>
                <a:latin typeface="Calibri"/>
              </a:rPr>
              <a:t>Maternal health, SRHR, GBV, midwifery delivery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>
                <a:solidFill>
                  <a:srgbClr val="333333"/>
                </a:solidFill>
                <a:latin typeface="Calibri"/>
              </a:rPr>
              <a:t>Deep country presence and government trust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>
                <a:solidFill>
                  <a:srgbClr val="333333"/>
                </a:solidFill>
                <a:latin typeface="Calibri"/>
              </a:rPr>
              <a:t>Cannot access non-traditional funding at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4389120"/>
          </a:xfrm>
          <a:prstGeom prst="rect">
            <a:avLst/>
          </a:prstGeom>
          <a:solidFill>
            <a:srgbClr val="F0F6FC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9EDB"/>
                </a:solidFill>
                <a:latin typeface="Calibri"/>
              </a:rPr>
              <a:t>PHILANTHROPY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5029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03366"/>
                </a:solidFill>
                <a:latin typeface="Calibri"/>
              </a:rPr>
              <a:t>Has capital ready to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517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>
                <a:solidFill>
                  <a:srgbClr val="333333"/>
                </a:solidFill>
                <a:latin typeface="Calibri"/>
              </a:rPr>
              <a:t>Hundreds of family offices and foundations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>
                <a:solidFill>
                  <a:srgbClr val="333333"/>
                </a:solidFill>
                <a:latin typeface="Calibri"/>
              </a:rPr>
              <a:t>Active interest in health, climate, gender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>
                <a:solidFill>
                  <a:srgbClr val="333333"/>
                </a:solidFill>
                <a:latin typeface="Calibri"/>
              </a:rPr>
              <a:t>Strong Singapore and Asia-Pacific presence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>
                <a:solidFill>
                  <a:srgbClr val="333333"/>
                </a:solidFill>
                <a:latin typeface="Calibri"/>
              </a:rPr>
              <a:t>Does not know where or how to invest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03366"/>
                </a:solidFill>
                <a:latin typeface="Calibri"/>
              </a:rPr>
              <a:t>Two worlds that should be finding each other are passing each other by.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UNFPA Partnership Catalyst  |  IT Team Pitch  |  Dr. Asa Torkelsson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Strategic Reframe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BBDDFF"/>
                </a:solidFill>
                <a:latin typeface="Calibri"/>
              </a:rPr>
              <a:t>Not research. Not a report. A market-maker.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3366"/>
                </a:solidFill>
                <a:latin typeface="Calibri"/>
              </a:rPr>
              <a:t>This tool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777777"/>
                </a:solidFill>
                <a:latin typeface="Calibri"/>
              </a:rPr>
              <a:t>✗   NOT just a PPP design exercise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777777"/>
                </a:solidFill>
                <a:latin typeface="Calibri"/>
              </a:rPr>
              <a:t>✗   NOT just a static research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2194560"/>
          </a:xfrm>
          <a:prstGeom prst="rect">
            <a:avLst/>
          </a:prstGeom>
          <a:solidFill>
            <a:srgbClr val="F0F6FC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9EDB"/>
                </a:solidFill>
                <a:latin typeface="Calibri"/>
              </a:rPr>
              <a:t>✓   A MARKET-CREATION AND MATCHMAKING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105156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A live intelligence platform that bridges the two broken sides — giving UNFPA staff the intelligence and language they need to initiate, prepare for, and close funding conversations with non-traditional partners.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03366"/>
                </a:solidFill>
                <a:latin typeface="Calibri"/>
              </a:rPr>
              <a:t>The real question: do we participate in the philanthropic market on our own terms, or wait to be discovered?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UNFPA Partnership Catalyst  |  IT Team Pitch  |  Dr. Asa Torkelsson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LKYSPP Team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BBDDFF"/>
                </a:solidFill>
                <a:latin typeface="Calibri"/>
              </a:rPr>
              <a:t>Two concrete, production-ready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4663440"/>
          </a:xfrm>
          <a:prstGeom prst="rect">
            <a:avLst/>
          </a:prstGeom>
          <a:solidFill>
            <a:srgbClr val="F0F6FC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09EDB"/>
                </a:solidFill>
                <a:latin typeface="Calibri"/>
              </a:rPr>
              <a:t>DELIVERABLE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029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3366"/>
                </a:solidFill>
                <a:latin typeface="Calibri"/>
              </a:rPr>
              <a:t>Singapore Philanthropy
Landscape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09EDB"/>
                </a:solidFill>
                <a:latin typeface="Calibri"/>
              </a:rPr>
              <a:t>60 pages of original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Map of family offices and foundations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Funder priorities and decision criteria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Alignment points with UNFPA mandate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Embedded and queryable inside the 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486400" cy="4663440"/>
          </a:xfrm>
          <a:prstGeom prst="rect">
            <a:avLst/>
          </a:prstGeom>
          <a:solidFill>
            <a:srgbClr val="F0F6FC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09EDB"/>
                </a:solidFill>
                <a:latin typeface="Calibri"/>
              </a:rPr>
              <a:t>DELIVERABLE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029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3366"/>
                </a:solidFill>
                <a:latin typeface="Calibri"/>
              </a:rPr>
              <a:t>AI-Powered Knowledge
Tool (Prototype)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0896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09EDB"/>
                </a:solidFill>
                <a:latin typeface="Calibri"/>
              </a:rPr>
              <a:t>Live web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52044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Curated UNFPA knowledge base (32 docs)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RAG chat for partnership preparation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Export to DOCX, PDF, PPTX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Already running: unfpa-lkyspp-otg.vercel.app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UNFPA Partnership Catalyst  |  IT Team Pitch  |  Dr. Asa Torkelsson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AI Tool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BBDDFF"/>
                </a:solidFill>
                <a:latin typeface="Calibri"/>
              </a:rPr>
              <a:t>Six core partnership-preparation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09EDB"/>
                </a:solidFill>
                <a:latin typeface="Calibri"/>
              </a:rPr>
              <a:t>•  </a:t>
            </a:r>
            <a:r>
              <a:rPr sz="1700" b="1">
                <a:solidFill>
                  <a:srgbClr val="003366"/>
                </a:solidFill>
                <a:latin typeface="Calibri"/>
              </a:rPr>
              <a:t>Generate funder pitches  </a:t>
            </a:r>
            <a:r>
              <a:rPr sz="1700">
                <a:solidFill>
                  <a:srgbClr val="333333"/>
                </a:solidFill>
                <a:latin typeface="Calibri"/>
              </a:rPr>
              <a:t>— framing UNFPA programmes for specific family offices and foundations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09EDB"/>
                </a:solidFill>
                <a:latin typeface="Calibri"/>
              </a:rPr>
              <a:t>•  </a:t>
            </a:r>
            <a:r>
              <a:rPr sz="1700" b="1">
                <a:solidFill>
                  <a:srgbClr val="003366"/>
                </a:solidFill>
                <a:latin typeface="Calibri"/>
              </a:rPr>
              <a:t>Draft briefing notes  </a:t>
            </a:r>
            <a:r>
              <a:rPr sz="1700">
                <a:solidFill>
                  <a:srgbClr val="333333"/>
                </a:solidFill>
                <a:latin typeface="Calibri"/>
              </a:rPr>
              <a:t>— structured two-pagers ready for external partners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09EDB"/>
                </a:solidFill>
                <a:latin typeface="Calibri"/>
              </a:rPr>
              <a:t>•  </a:t>
            </a:r>
            <a:r>
              <a:rPr sz="1700" b="1">
                <a:solidFill>
                  <a:srgbClr val="003366"/>
                </a:solidFill>
                <a:latin typeface="Calibri"/>
              </a:rPr>
              <a:t>Prepare meeting talking points  </a:t>
            </a:r>
            <a:r>
              <a:rPr sz="1700">
                <a:solidFill>
                  <a:srgbClr val="333333"/>
                </a:solidFill>
                <a:latin typeface="Calibri"/>
              </a:rPr>
              <a:t>— discussion frameworks for funding conversations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09EDB"/>
                </a:solidFill>
                <a:latin typeface="Calibri"/>
              </a:rPr>
              <a:t>•  </a:t>
            </a:r>
            <a:r>
              <a:rPr sz="1700" b="1">
                <a:solidFill>
                  <a:srgbClr val="003366"/>
                </a:solidFill>
                <a:latin typeface="Calibri"/>
              </a:rPr>
              <a:t>Match projects to funders  </a:t>
            </a:r>
            <a:r>
              <a:rPr sz="1700">
                <a:solidFill>
                  <a:srgbClr val="333333"/>
                </a:solidFill>
                <a:latin typeface="Calibri"/>
              </a:rPr>
              <a:t>— identify alignment between programmes and donor priorities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09EDB"/>
                </a:solidFill>
                <a:latin typeface="Calibri"/>
              </a:rPr>
              <a:t>•  </a:t>
            </a:r>
            <a:r>
              <a:rPr sz="1700" b="1">
                <a:solidFill>
                  <a:srgbClr val="003366"/>
                </a:solidFill>
                <a:latin typeface="Calibri"/>
              </a:rPr>
              <a:t>Frame work for climate funding  </a:t>
            </a:r>
            <a:r>
              <a:rPr sz="1700">
                <a:solidFill>
                  <a:srgbClr val="333333"/>
                </a:solidFill>
                <a:latin typeface="Calibri"/>
              </a:rPr>
              <a:t>— position SRHR within climate resilience narratives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09EDB"/>
                </a:solidFill>
                <a:latin typeface="Calibri"/>
              </a:rPr>
              <a:t>•  </a:t>
            </a:r>
            <a:r>
              <a:rPr sz="1700" b="1">
                <a:solidFill>
                  <a:srgbClr val="003366"/>
                </a:solidFill>
                <a:latin typeface="Calibri"/>
              </a:rPr>
              <a:t>Compare financing models  </a:t>
            </a:r>
            <a:r>
              <a:rPr sz="1700">
                <a:solidFill>
                  <a:srgbClr val="333333"/>
                </a:solidFill>
                <a:latin typeface="Calibri"/>
              </a:rPr>
              <a:t>— DIBs, blended finance, South-South cooperation, explained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UNFPA Partnership Catalyst  |  IT Team Pitch  |  Dr. Asa Torkelsson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BBDDFF"/>
                </a:solidFill>
                <a:latin typeface="Calibri"/>
              </a:rPr>
              <a:t>Production-grade, standard, no vendor lock-in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09EDB"/>
                </a:solidFill>
                <a:latin typeface="Calibri"/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 b="1">
                <a:solidFill>
                  <a:srgbClr val="003366"/>
                </a:solidFill>
                <a:latin typeface="Calibri"/>
              </a:rPr>
              <a:t>Frontend  </a:t>
            </a:r>
            <a:r>
              <a:rPr sz="1300">
                <a:solidFill>
                  <a:srgbClr val="333333"/>
                </a:solidFill>
                <a:latin typeface="Calibri"/>
              </a:rPr>
              <a:t>— Next.js 16, React 19, TypeScript, Tailwind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 b="1">
                <a:solidFill>
                  <a:srgbClr val="003366"/>
                </a:solidFill>
                <a:latin typeface="Calibri"/>
              </a:rPr>
              <a:t>Backend  </a:t>
            </a:r>
            <a:r>
              <a:rPr sz="1300">
                <a:solidFill>
                  <a:srgbClr val="333333"/>
                </a:solidFill>
                <a:latin typeface="Calibri"/>
              </a:rPr>
              <a:t>— Node.js API routes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 b="1">
                <a:solidFill>
                  <a:srgbClr val="003366"/>
                </a:solidFill>
                <a:latin typeface="Calibri"/>
              </a:rPr>
              <a:t>Database  </a:t>
            </a:r>
            <a:r>
              <a:rPr sz="1300">
                <a:solidFill>
                  <a:srgbClr val="333333"/>
                </a:solidFill>
                <a:latin typeface="Calibri"/>
              </a:rPr>
              <a:t>— PostgreSQL + pgvector extension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 b="1">
                <a:solidFill>
                  <a:srgbClr val="003366"/>
                </a:solidFill>
                <a:latin typeface="Calibri"/>
              </a:rPr>
              <a:t>ORM  </a:t>
            </a:r>
            <a:r>
              <a:rPr sz="1300">
                <a:solidFill>
                  <a:srgbClr val="333333"/>
                </a:solidFill>
                <a:latin typeface="Calibri"/>
              </a:rPr>
              <a:t>— Prisma 7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 b="1">
                <a:solidFill>
                  <a:srgbClr val="003366"/>
                </a:solidFill>
                <a:latin typeface="Calibri"/>
              </a:rPr>
              <a:t>Language model  </a:t>
            </a:r>
            <a:r>
              <a:rPr sz="1300">
                <a:solidFill>
                  <a:srgbClr val="333333"/>
                </a:solidFill>
                <a:latin typeface="Calibri"/>
              </a:rPr>
              <a:t>— Anthropic Claude Sonnet 4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 b="1">
                <a:solidFill>
                  <a:srgbClr val="003366"/>
                </a:solidFill>
                <a:latin typeface="Calibri"/>
              </a:rPr>
              <a:t>Embeddings  </a:t>
            </a:r>
            <a:r>
              <a:rPr sz="1300">
                <a:solidFill>
                  <a:srgbClr val="333333"/>
                </a:solidFill>
                <a:latin typeface="Calibri"/>
              </a:rPr>
              <a:t>— OpenAI text-embedding-3-small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 b="1">
                <a:solidFill>
                  <a:srgbClr val="003366"/>
                </a:solidFill>
                <a:latin typeface="Calibri"/>
              </a:rPr>
              <a:t>Hosting  </a:t>
            </a:r>
            <a:r>
              <a:rPr sz="1300">
                <a:solidFill>
                  <a:srgbClr val="333333"/>
                </a:solidFill>
                <a:latin typeface="Calibri"/>
              </a:rPr>
              <a:t>— Vercel (currently), portable to any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09EDB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Markdown knowledge docs ingested via CLI script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SHA-256 hash prevents re-ingesting unchanged docs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Chunked at ~1000 words on heading boundaries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Each chunk embedded into a 1,536-dim vector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Stored in PostgreSQL with pgvector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Queries embedded and matched via cosine similarity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9EDB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Claude synthesises retrieved chunks into a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UNFPA Partnership Catalyst  |  IT Team Pitch  |  Dr. Asa Torkelsson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Handover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BBDDFF"/>
                </a:solidFill>
                <a:latin typeface="Calibri"/>
              </a:rPr>
              <a:t>A gift from LKYSPP, no strings attached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003366"/>
                </a:solidFill>
                <a:latin typeface="Calibri"/>
              </a:rPr>
              <a:t>Cost of acquisition: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licensing fee. No transfer fee. No ongoing obligation.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 b="1">
                <a:solidFill>
                  <a:srgbClr val="003366"/>
                </a:solidFill>
                <a:latin typeface="Calibri"/>
              </a:rPr>
              <a:t>Codebase  </a:t>
            </a:r>
            <a:r>
              <a:rPr sz="1400">
                <a:solidFill>
                  <a:srgbClr val="333333"/>
                </a:solidFill>
                <a:latin typeface="Calibri"/>
              </a:rPr>
              <a:t>— full source transferred to private UNFPA GitHub organisation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 b="1">
                <a:solidFill>
                  <a:srgbClr val="003366"/>
                </a:solidFill>
                <a:latin typeface="Calibri"/>
              </a:rPr>
              <a:t>Hosting  </a:t>
            </a:r>
            <a:r>
              <a:rPr sz="1400">
                <a:solidFill>
                  <a:srgbClr val="333333"/>
                </a:solidFill>
                <a:latin typeface="Calibri"/>
              </a:rPr>
              <a:t>— Vercel free tier, or self-hosted on any cloud / on-premise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 b="1">
                <a:solidFill>
                  <a:srgbClr val="003366"/>
                </a:solidFill>
                <a:latin typeface="Calibri"/>
              </a:rPr>
              <a:t>Runtime APIs  </a:t>
            </a:r>
            <a:r>
              <a:rPr sz="1400">
                <a:solidFill>
                  <a:srgbClr val="333333"/>
                </a:solidFill>
                <a:latin typeface="Calibri"/>
              </a:rPr>
              <a:t>— Anthropic + OpenAI, ~USD 35–170/month for 20–30 users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 b="1">
                <a:solidFill>
                  <a:srgbClr val="003366"/>
                </a:solidFill>
                <a:latin typeface="Calibri"/>
              </a:rPr>
              <a:t>Knowledge stewardship  </a:t>
            </a:r>
            <a:r>
              <a:rPr sz="1400">
                <a:solidFill>
                  <a:srgbClr val="333333"/>
                </a:solidFill>
                <a:latin typeface="Calibri"/>
              </a:rPr>
              <a:t>— programme staff edit Markdown, run one command to reingest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 b="1">
                <a:solidFill>
                  <a:srgbClr val="003366"/>
                </a:solidFill>
                <a:latin typeface="Calibri"/>
              </a:rPr>
              <a:t>Technical stewardship  </a:t>
            </a:r>
            <a:r>
              <a:rPr sz="1400">
                <a:solidFill>
                  <a:srgbClr val="333333"/>
                </a:solidFill>
                <a:latin typeface="Calibri"/>
              </a:rPr>
              <a:t>— UNFPA IT team owns deployment, API keys, code changes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009EDB"/>
                </a:solidFill>
                <a:latin typeface="Calibri"/>
              </a:rPr>
              <a:t>•  </a:t>
            </a:r>
            <a:r>
              <a:rPr sz="1400" b="1">
                <a:solidFill>
                  <a:srgbClr val="003366"/>
                </a:solidFill>
                <a:latin typeface="Calibri"/>
              </a:rPr>
              <a:t>Long-term maintenance  </a:t>
            </a:r>
            <a:r>
              <a:rPr sz="1400">
                <a:solidFill>
                  <a:srgbClr val="333333"/>
                </a:solidFill>
                <a:latin typeface="Calibri"/>
              </a:rPr>
              <a:t>— LKYSPP concludes at handover; standard stack, any contractor can maintain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UNFPA Partnership Catalyst  |  IT Team Pitch  |  Dr. Asa Torkelsson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Questions for the IT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BBDDFF"/>
                </a:solidFill>
                <a:latin typeface="Calibri"/>
              </a:rPr>
              <a:t>30 questions across 6 governance 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1371600"/>
          </a:xfrm>
          <a:prstGeom prst="rect">
            <a:avLst/>
          </a:prstGeom>
          <a:solidFill>
            <a:srgbClr val="F0F6FC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Calibri"/>
              </a:rPr>
              <a:t>A. Data Governance &amp; Privacy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Third-party AI APIs, data residency, PII, DPO sign-off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440680" cy="1371600"/>
          </a:xfrm>
          <a:prstGeom prst="rect">
            <a:avLst/>
          </a:prstGeom>
          <a:solidFill>
            <a:srgbClr val="F0F6FC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Calibri"/>
              </a:rPr>
              <a:t>B. Cybersecurity &amp; Vendor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51206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Vendor assessment, Anthropic/OpenAI approval, pen test, cloud standards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5440680" cy="1371600"/>
          </a:xfrm>
          <a:prstGeom prst="rect">
            <a:avLst/>
          </a:prstGeom>
          <a:solidFill>
            <a:srgbClr val="F0F6FC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Calibri"/>
              </a:rPr>
              <a:t>C. Procurement &amp; Legal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51206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Spend thresholds, IP transfer instrument, Legal sign-off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017520"/>
            <a:ext cx="5440680" cy="1371600"/>
          </a:xfrm>
          <a:prstGeom prst="rect">
            <a:avLst/>
          </a:prstGeom>
          <a:solidFill>
            <a:srgbClr val="F0F6FC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15468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Calibri"/>
              </a:rPr>
              <a:t>D. Infrastructure &amp; 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520440"/>
            <a:ext cx="51206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Vercel acceptability, self-hosting, PostgreSQL + pgvector provisioning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26279"/>
            <a:ext cx="5440680" cy="1371600"/>
          </a:xfrm>
          <a:prstGeom prst="rect">
            <a:avLst/>
          </a:prstGeom>
          <a:solidFill>
            <a:srgbClr val="F0F6FC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63439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Calibri"/>
              </a:rPr>
              <a:t>E. Access Control &amp;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199"/>
            <a:ext cx="51206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SSO integration, role-based access, audit logging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526279"/>
            <a:ext cx="5440680" cy="1371600"/>
          </a:xfrm>
          <a:prstGeom prst="rect">
            <a:avLst/>
          </a:prstGeom>
          <a:solidFill>
            <a:srgbClr val="F0F6FC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63439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Calibri"/>
              </a:rPr>
              <a:t>F. AI &amp; Algorithmic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029199"/>
            <a:ext cx="51206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Internal AI policy, human-in-the-loop review, AI inventory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UNFPA Partnership Catalyst  |  IT Team Pitch  |  Dr. Asa Torkelsson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Sample of the 30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BBDDFF"/>
                </a:solidFill>
                <a:latin typeface="Calibri"/>
              </a:rPr>
              <a:t>The full list lives in the accompanying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9EDB"/>
                </a:solidFill>
                <a:latin typeface="Calibri"/>
              </a:rPr>
              <a:t>•  </a:t>
            </a:r>
            <a:r>
              <a:rPr sz="1500">
                <a:solidFill>
                  <a:srgbClr val="333333"/>
                </a:solidFill>
                <a:latin typeface="Calibri"/>
              </a:rPr>
              <a:t>Does UNFPA HQ policy permit third-party AI APIs to process internal documents?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9EDB"/>
                </a:solidFill>
                <a:latin typeface="Calibri"/>
              </a:rPr>
              <a:t>•  </a:t>
            </a:r>
            <a:r>
              <a:rPr sz="1500">
                <a:solidFill>
                  <a:srgbClr val="333333"/>
                </a:solidFill>
                <a:latin typeface="Calibri"/>
              </a:rPr>
              <a:t>Are Anthropic and OpenAI on UNFPA's approved vendor list?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9EDB"/>
                </a:solidFill>
                <a:latin typeface="Calibri"/>
              </a:rPr>
              <a:t>•  </a:t>
            </a:r>
            <a:r>
              <a:rPr sz="1500">
                <a:solidFill>
                  <a:srgbClr val="333333"/>
                </a:solidFill>
                <a:latin typeface="Calibri"/>
              </a:rPr>
              <a:t>Can UNFPA formally accept Vercel as a host for a staff-facing tool?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9EDB"/>
                </a:solidFill>
                <a:latin typeface="Calibri"/>
              </a:rPr>
              <a:t>•  </a:t>
            </a:r>
            <a:r>
              <a:rPr sz="1500">
                <a:solidFill>
                  <a:srgbClr val="333333"/>
                </a:solidFill>
                <a:latin typeface="Calibri"/>
              </a:rPr>
              <a:t>Does the codebase transfer from LKYSPP require a legal instrument (MOU, IP)?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9EDB"/>
                </a:solidFill>
                <a:latin typeface="Calibri"/>
              </a:rPr>
              <a:t>•  </a:t>
            </a:r>
            <a:r>
              <a:rPr sz="1500">
                <a:solidFill>
                  <a:srgbClr val="333333"/>
                </a:solidFill>
                <a:latin typeface="Calibri"/>
              </a:rPr>
              <a:t>Should the tool integrate with UNFPA SSO / Azure AD before any rollout?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9EDB"/>
                </a:solidFill>
                <a:latin typeface="Calibri"/>
              </a:rPr>
              <a:t>•  </a:t>
            </a:r>
            <a:r>
              <a:rPr sz="1500">
                <a:solidFill>
                  <a:srgbClr val="333333"/>
                </a:solidFill>
                <a:latin typeface="Calibri"/>
              </a:rPr>
              <a:t>Does UNFPA have an internal AI use policy this tool must comply with?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9EDB"/>
                </a:solidFill>
                <a:latin typeface="Calibri"/>
              </a:rPr>
              <a:t>•  </a:t>
            </a:r>
            <a:r>
              <a:rPr sz="1500">
                <a:solidFill>
                  <a:srgbClr val="333333"/>
                </a:solidFill>
                <a:latin typeface="Calibri"/>
              </a:rPr>
              <a:t>Is audit logging of chat queries required for compliance?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9EDB"/>
                </a:solidFill>
                <a:latin typeface="Calibri"/>
              </a:rPr>
              <a:t>•  </a:t>
            </a:r>
            <a:r>
              <a:rPr sz="1500">
                <a:solidFill>
                  <a:srgbClr val="333333"/>
                </a:solidFill>
                <a:latin typeface="Calibri"/>
              </a:rPr>
              <a:t>Who in UNFPA Legal needs to sign off on accepting the codebase?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UNFPA Partnership Catalyst  |  IT Team Pitch  |  Dr. Asa Torkelsson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My Ask of the IT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BBDDFF"/>
                </a:solidFill>
                <a:latin typeface="Calibri"/>
              </a:rPr>
              <a:t>A 30-day assessment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003366"/>
                </a:solidFill>
                <a:latin typeface="Calibri"/>
              </a:rPr>
              <a:t>I am not asking you to build anything. The LKYSPP team has already built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I am asking you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11064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009EDB"/>
                </a:solidFill>
                <a:latin typeface="Calibri"/>
              </a:rPr>
              <a:t>•  </a:t>
            </a:r>
            <a:r>
              <a:rPr sz="1600" b="1">
                <a:solidFill>
                  <a:srgbClr val="003366"/>
                </a:solidFill>
                <a:latin typeface="Calibri"/>
              </a:rPr>
              <a:t>Review  </a:t>
            </a:r>
            <a:r>
              <a:rPr sz="1600">
                <a:solidFill>
                  <a:srgbClr val="333333"/>
                </a:solidFill>
                <a:latin typeface="Calibri"/>
              </a:rPr>
              <a:t>the codebase against UNFPA security and hosting standards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009EDB"/>
                </a:solidFill>
                <a:latin typeface="Calibri"/>
              </a:rPr>
              <a:t>•  </a:t>
            </a:r>
            <a:r>
              <a:rPr sz="1600" b="1">
                <a:solidFill>
                  <a:srgbClr val="003366"/>
                </a:solidFill>
                <a:latin typeface="Calibri"/>
              </a:rPr>
              <a:t>Work through  </a:t>
            </a:r>
            <a:r>
              <a:rPr sz="1600">
                <a:solidFill>
                  <a:srgbClr val="333333"/>
                </a:solidFill>
                <a:latin typeface="Calibri"/>
              </a:rPr>
              <a:t>the 30-question approval checklist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009EDB"/>
                </a:solidFill>
                <a:latin typeface="Calibri"/>
              </a:rPr>
              <a:t>•  </a:t>
            </a:r>
            <a:r>
              <a:rPr sz="1600" b="1">
                <a:solidFill>
                  <a:srgbClr val="003366"/>
                </a:solidFill>
                <a:latin typeface="Calibri"/>
              </a:rPr>
              <a:t>Advise  </a:t>
            </a:r>
            <a:r>
              <a:rPr sz="1600">
                <a:solidFill>
                  <a:srgbClr val="333333"/>
                </a:solidFill>
                <a:latin typeface="Calibri"/>
              </a:rPr>
              <a:t>on hosting (Vercel vs. self-hosted) and authentication requirements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009EDB"/>
                </a:solidFill>
                <a:latin typeface="Calibri"/>
              </a:rPr>
              <a:t>•  </a:t>
            </a:r>
            <a:r>
              <a:rPr sz="1600" b="1">
                <a:solidFill>
                  <a:srgbClr val="003366"/>
                </a:solidFill>
                <a:latin typeface="Calibri"/>
              </a:rPr>
              <a:t>Facilitate  </a:t>
            </a:r>
            <a:r>
              <a:rPr sz="1600">
                <a:solidFill>
                  <a:srgbClr val="333333"/>
                </a:solidFill>
                <a:latin typeface="Calibri"/>
              </a:rPr>
              <a:t>API vendor approval for Anthropic and OpenAI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009EDB"/>
                </a:solidFill>
                <a:latin typeface="Calibri"/>
              </a:rPr>
              <a:t>•  </a:t>
            </a:r>
            <a:r>
              <a:rPr sz="1600" b="1">
                <a:solidFill>
                  <a:srgbClr val="003366"/>
                </a:solidFill>
                <a:latin typeface="Calibri"/>
              </a:rPr>
              <a:t>Participate  </a:t>
            </a:r>
            <a:r>
              <a:rPr sz="1600">
                <a:solidFill>
                  <a:srgbClr val="333333"/>
                </a:solidFill>
                <a:latin typeface="Calibri"/>
              </a:rPr>
              <a:t>in a technical handover session with the LKYSPP development team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009EDB"/>
                </a:solidFill>
                <a:latin typeface="Calibri"/>
              </a:rPr>
              <a:t>•  </a:t>
            </a:r>
            <a:r>
              <a:rPr sz="1600" b="1">
                <a:solidFill>
                  <a:srgbClr val="003366"/>
                </a:solidFill>
                <a:latin typeface="Calibri"/>
              </a:rPr>
              <a:t>Deliver  </a:t>
            </a:r>
            <a:r>
              <a:rPr sz="1600">
                <a:solidFill>
                  <a:srgbClr val="333333"/>
                </a:solidFill>
                <a:latin typeface="Calibri"/>
              </a:rPr>
              <a:t>a written recommendation at the end of 30 days: deploy, modify, or escalate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UNFPA Partnership Catalyst  |  IT Team Pitch  |  Dr. Asa Torkelsson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83280"/>
            <a:ext cx="12191695" cy="7315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9EDB"/>
                </a:solidFill>
                <a:latin typeface="Calibri"/>
              </a:rP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market failure between UNFPA's programmatic capacity
and philanthropic capital will not fix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BBDDFF"/>
                </a:solidFill>
                <a:latin typeface="Calibri"/>
              </a:rPr>
              <a:t>We need better tools to participate in that market —
actively, intelligently, and on our own terms.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Dr. Asa Torkelsson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BBBBBB"/>
                </a:solidFill>
                <a:latin typeface="Calibri"/>
              </a:rPr>
              <a:t>Chief, UNFPA Seoul Representation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